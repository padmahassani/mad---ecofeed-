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314" r:id="rId3"/>
    <p:sldId id="266" r:id="rId4"/>
    <p:sldId id="267" r:id="rId5"/>
    <p:sldId id="319" r:id="rId6"/>
    <p:sldId id="332" r:id="rId7"/>
    <p:sldId id="321" r:id="rId8"/>
    <p:sldId id="322" r:id="rId9"/>
    <p:sldId id="324" r:id="rId10"/>
    <p:sldId id="325" r:id="rId11"/>
    <p:sldId id="326" r:id="rId12"/>
    <p:sldId id="330" r:id="rId13"/>
    <p:sldId id="339" r:id="rId14"/>
    <p:sldId id="340" r:id="rId15"/>
    <p:sldId id="327" r:id="rId16"/>
    <p:sldId id="333" r:id="rId17"/>
    <p:sldId id="334" r:id="rId18"/>
    <p:sldId id="335" r:id="rId19"/>
    <p:sldId id="348" r:id="rId20"/>
    <p:sldId id="346" r:id="rId21"/>
    <p:sldId id="341" r:id="rId22"/>
    <p:sldId id="338" r:id="rId23"/>
    <p:sldId id="342" r:id="rId24"/>
    <p:sldId id="343" r:id="rId25"/>
    <p:sldId id="291" r:id="rId26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E5200C-BF9C-40C6-A30C-61A6B3F3C722}" v="15" dt="2026-10-26T04:12:23.7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765" autoAdjust="0"/>
  </p:normalViewPr>
  <p:slideViewPr>
    <p:cSldViewPr snapToGrid="0">
      <p:cViewPr varScale="1">
        <p:scale>
          <a:sx n="95" d="100"/>
          <a:sy n="95" d="100"/>
        </p:scale>
        <p:origin x="109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3;n">
            <a:extLst>
              <a:ext uri="{FF2B5EF4-FFF2-40B4-BE49-F238E27FC236}">
                <a16:creationId xmlns:a16="http://schemas.microsoft.com/office/drawing/2014/main" id="{4A9E8663-6638-41A7-40ED-07780B989F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5" name="Google Shape;4;n">
            <a:extLst>
              <a:ext uri="{FF2B5EF4-FFF2-40B4-BE49-F238E27FC236}">
                <a16:creationId xmlns:a16="http://schemas.microsoft.com/office/drawing/2014/main" id="{F4043E1C-887C-D5B4-EECD-3BDAEDFD7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51;p:notes">
            <a:extLst>
              <a:ext uri="{FF2B5EF4-FFF2-40B4-BE49-F238E27FC236}">
                <a16:creationId xmlns:a16="http://schemas.microsoft.com/office/drawing/2014/main" id="{A59F5708-9A7F-1B69-0C03-925DA3FB155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5123" name="Google Shape;52;p:notes">
            <a:extLst>
              <a:ext uri="{FF2B5EF4-FFF2-40B4-BE49-F238E27FC236}">
                <a16:creationId xmlns:a16="http://schemas.microsoft.com/office/drawing/2014/main" id="{A552E64B-3417-9A39-43C7-E348F30AC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61;gb6148a5caf_0_26:notes">
            <a:extLst>
              <a:ext uri="{FF2B5EF4-FFF2-40B4-BE49-F238E27FC236}">
                <a16:creationId xmlns:a16="http://schemas.microsoft.com/office/drawing/2014/main" id="{908C9B25-5E49-9372-09A3-504C0B61C59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7171" name="Google Shape;62;gb6148a5caf_0_26:notes">
            <a:extLst>
              <a:ext uri="{FF2B5EF4-FFF2-40B4-BE49-F238E27FC236}">
                <a16:creationId xmlns:a16="http://schemas.microsoft.com/office/drawing/2014/main" id="{99C68EB3-554C-97DF-823E-D860CDEEF0C1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Google Shape;61;gb6148a5caf_0_26:notes">
            <a:extLst>
              <a:ext uri="{FF2B5EF4-FFF2-40B4-BE49-F238E27FC236}">
                <a16:creationId xmlns:a16="http://schemas.microsoft.com/office/drawing/2014/main" id="{DBEAC605-2ECB-2FD0-F285-5A01A6FB334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9219" name="Google Shape;62;gb6148a5caf_0_26:notes">
            <a:extLst>
              <a:ext uri="{FF2B5EF4-FFF2-40B4-BE49-F238E27FC236}">
                <a16:creationId xmlns:a16="http://schemas.microsoft.com/office/drawing/2014/main" id="{24A55C58-650B-15BC-E16A-622856303729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61;gb6148a5caf_0_26:notes">
            <a:extLst>
              <a:ext uri="{FF2B5EF4-FFF2-40B4-BE49-F238E27FC236}">
                <a16:creationId xmlns:a16="http://schemas.microsoft.com/office/drawing/2014/main" id="{5DA3126F-1934-6002-D4B3-0AF45658264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11267" name="Google Shape;62;gb6148a5caf_0_26:notes">
            <a:extLst>
              <a:ext uri="{FF2B5EF4-FFF2-40B4-BE49-F238E27FC236}">
                <a16:creationId xmlns:a16="http://schemas.microsoft.com/office/drawing/2014/main" id="{420AD77A-9312-ED7F-FB81-2A8A62BEC04B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61;gb6148a5caf_0_26:notes">
            <a:extLst>
              <a:ext uri="{FF2B5EF4-FFF2-40B4-BE49-F238E27FC236}">
                <a16:creationId xmlns:a16="http://schemas.microsoft.com/office/drawing/2014/main" id="{428796FF-E022-E8C6-1A4E-DDA47FAC6CC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13315" name="Google Shape;62;gb6148a5caf_0_26:notes">
            <a:extLst>
              <a:ext uri="{FF2B5EF4-FFF2-40B4-BE49-F238E27FC236}">
                <a16:creationId xmlns:a16="http://schemas.microsoft.com/office/drawing/2014/main" id="{E990ACB1-DF53-ADD8-26F0-694DF265F355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B874431-3D39-8A9D-442E-B2E4F4F2F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61;gb6148a5caf_0_26:notes">
            <a:extLst>
              <a:ext uri="{FF2B5EF4-FFF2-40B4-BE49-F238E27FC236}">
                <a16:creationId xmlns:a16="http://schemas.microsoft.com/office/drawing/2014/main" id="{DD5F7488-FE80-265E-7120-BF0DD17123C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13315" name="Google Shape;62;gb6148a5caf_0_26:notes">
            <a:extLst>
              <a:ext uri="{FF2B5EF4-FFF2-40B4-BE49-F238E27FC236}">
                <a16:creationId xmlns:a16="http://schemas.microsoft.com/office/drawing/2014/main" id="{7F0334B8-476B-AF85-1D5E-09388878F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772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61;gb6148a5caf_0_26:notes">
            <a:extLst>
              <a:ext uri="{FF2B5EF4-FFF2-40B4-BE49-F238E27FC236}">
                <a16:creationId xmlns:a16="http://schemas.microsoft.com/office/drawing/2014/main" id="{78FA8A54-24E6-FB16-0E9D-9549DD37024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17411" name="Google Shape;62;gb6148a5caf_0_26:notes">
            <a:extLst>
              <a:ext uri="{FF2B5EF4-FFF2-40B4-BE49-F238E27FC236}">
                <a16:creationId xmlns:a16="http://schemas.microsoft.com/office/drawing/2014/main" id="{115FE142-B167-33CD-2E81-85E4B40B3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Google Shape;61;gb6148a5caf_0_26:notes">
            <a:extLst>
              <a:ext uri="{FF2B5EF4-FFF2-40B4-BE49-F238E27FC236}">
                <a16:creationId xmlns:a16="http://schemas.microsoft.com/office/drawing/2014/main" id="{5ECED904-6329-C4A5-87E3-8EFED2606A6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19459" name="Google Shape;62;gb6148a5caf_0_26:notes">
            <a:extLst>
              <a:ext uri="{FF2B5EF4-FFF2-40B4-BE49-F238E27FC236}">
                <a16:creationId xmlns:a16="http://schemas.microsoft.com/office/drawing/2014/main" id="{DD4F034D-0548-794C-D70C-66CCC0BC8A47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Google Shape;61;gb6148a5caf_0_26:notes">
            <a:extLst>
              <a:ext uri="{FF2B5EF4-FFF2-40B4-BE49-F238E27FC236}">
                <a16:creationId xmlns:a16="http://schemas.microsoft.com/office/drawing/2014/main" id="{AC16B9DC-282F-1C4B-3F1B-1F103748D49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3555" name="Google Shape;62;gb6148a5caf_0_26:notes">
            <a:extLst>
              <a:ext uri="{FF2B5EF4-FFF2-40B4-BE49-F238E27FC236}">
                <a16:creationId xmlns:a16="http://schemas.microsoft.com/office/drawing/2014/main" id="{303A3989-B875-5A92-5ACA-ACFF331CB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Google Shape;61;gb6148a5caf_0_26:notes">
            <a:extLst>
              <a:ext uri="{FF2B5EF4-FFF2-40B4-BE49-F238E27FC236}">
                <a16:creationId xmlns:a16="http://schemas.microsoft.com/office/drawing/2014/main" id="{14E4BFD3-72DA-4B63-BC0A-06E02103010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5603" name="Google Shape;62;gb6148a5caf_0_26:notes">
            <a:extLst>
              <a:ext uri="{FF2B5EF4-FFF2-40B4-BE49-F238E27FC236}">
                <a16:creationId xmlns:a16="http://schemas.microsoft.com/office/drawing/2014/main" id="{CFFC22E0-0992-E9B4-9602-DEDA8E4C5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61;gb6148a5caf_0_26:notes">
            <a:extLst>
              <a:ext uri="{FF2B5EF4-FFF2-40B4-BE49-F238E27FC236}">
                <a16:creationId xmlns:a16="http://schemas.microsoft.com/office/drawing/2014/main" id="{F31F03BC-2DC8-92C1-81D6-5C9540EEA8E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7651" name="Google Shape;62;gb6148a5caf_0_26:notes">
            <a:extLst>
              <a:ext uri="{FF2B5EF4-FFF2-40B4-BE49-F238E27FC236}">
                <a16:creationId xmlns:a16="http://schemas.microsoft.com/office/drawing/2014/main" id="{7676DCF6-3A51-804A-A036-8124670D4F01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82DE0BF-8456-D604-769D-9B72B12C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61;gb6148a5caf_0_26:notes">
            <a:extLst>
              <a:ext uri="{FF2B5EF4-FFF2-40B4-BE49-F238E27FC236}">
                <a16:creationId xmlns:a16="http://schemas.microsoft.com/office/drawing/2014/main" id="{BF8FD890-2A99-49B6-AE11-D7733F0F050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7651" name="Google Shape;62;gb6148a5caf_0_26:notes">
            <a:extLst>
              <a:ext uri="{FF2B5EF4-FFF2-40B4-BE49-F238E27FC236}">
                <a16:creationId xmlns:a16="http://schemas.microsoft.com/office/drawing/2014/main" id="{C8B438FF-4B84-FDE8-7867-288AC025E15B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9675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2C9FB9E-47AA-7211-FEAC-A21C3C8C9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61;gb6148a5caf_0_26:notes">
            <a:extLst>
              <a:ext uri="{FF2B5EF4-FFF2-40B4-BE49-F238E27FC236}">
                <a16:creationId xmlns:a16="http://schemas.microsoft.com/office/drawing/2014/main" id="{7657BEF4-5DCC-7E70-6CF1-C9E9FCDD1A6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7651" name="Google Shape;62;gb6148a5caf_0_26:notes">
            <a:extLst>
              <a:ext uri="{FF2B5EF4-FFF2-40B4-BE49-F238E27FC236}">
                <a16:creationId xmlns:a16="http://schemas.microsoft.com/office/drawing/2014/main" id="{AED89F07-F490-B30E-6707-A4CEE7F16FEC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744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314C275-7492-2E4B-D1C8-D092FD95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61;gb6148a5caf_0_26:notes">
            <a:extLst>
              <a:ext uri="{FF2B5EF4-FFF2-40B4-BE49-F238E27FC236}">
                <a16:creationId xmlns:a16="http://schemas.microsoft.com/office/drawing/2014/main" id="{DC3942E7-06A4-A8A3-5E1F-5228D1CEEB3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7651" name="Google Shape;62;gb6148a5caf_0_26:notes">
            <a:extLst>
              <a:ext uri="{FF2B5EF4-FFF2-40B4-BE49-F238E27FC236}">
                <a16:creationId xmlns:a16="http://schemas.microsoft.com/office/drawing/2014/main" id="{891A7904-D591-FC84-B616-EFEE32BCD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7778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A23A924A-150A-794D-F404-00C340C80A9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905431A6-4642-9EF9-F08B-618439B95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53664DB-7165-829A-F5A2-2F7B0FD3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AB0EA4D3-FACD-3813-0C9F-80E24DCDFA1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22B1B564-76D1-193C-6F94-3BA92282F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1405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1985401-91E5-0640-1E3A-8E972B5BB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F7E1C5D8-DFD8-4D05-F3E8-22C733F050C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293C07CC-268B-7A67-9F33-B48C9A27A657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7818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11F183A-68A4-EEA1-048C-343CF65ED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1CC14FC7-454F-FFBA-5917-E9D679EEB6D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896EC650-8899-F3ED-2FC7-FDFCDF78B124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212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11C092D-9C64-F2A6-C4F2-EA491D39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C08DAD0E-BDE8-0DA7-90C0-AE40FDAD8AA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589BF14D-C3DF-5CF4-8CE0-CAABA23BAC22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3770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B49FCDB-9343-A8F6-A2B4-542936C3A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0D39F830-91B6-1607-5042-62FD6E28EAC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703E210F-048E-9D5D-2266-737B9A149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0840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8EF5805-A0D2-936E-5A0A-A05158F9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3530885F-01ED-7600-3D6B-666CBD44FFD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1C8B775A-8C35-96D1-A9E1-3AA7D216F508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9503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C3ABFA4-1921-2F2D-F964-4642E3C18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904484B3-B0BC-DF4F-DCEB-3AFA96E5B66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6EEC7E4B-FCA1-9FAC-5260-8A9D405882E6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2435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BCF88F1-35BE-A942-FCEE-FA27879D7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62DC340B-36C9-747A-93E6-1D1C7E21145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9908D632-2F64-1406-7D0C-2DCD6F9DF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8504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7E89588-8137-468F-59ED-175605ED3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2FF4AA9E-7895-EABD-A7E2-D3F19580253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7F88E650-90A5-630E-C350-050249DE8EBE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0967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61;gb6148a5caf_0_26:notes">
            <a:extLst>
              <a:ext uri="{FF2B5EF4-FFF2-40B4-BE49-F238E27FC236}">
                <a16:creationId xmlns:a16="http://schemas.microsoft.com/office/drawing/2014/main" id="{FB79C40B-F5F7-6F79-E4BD-067DD195276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35843" name="Google Shape;62;gb6148a5caf_0_26:notes">
            <a:extLst>
              <a:ext uri="{FF2B5EF4-FFF2-40B4-BE49-F238E27FC236}">
                <a16:creationId xmlns:a16="http://schemas.microsoft.com/office/drawing/2014/main" id="{AFF88471-33D5-827C-E388-A3D832EAF0B7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2467DBEF-6758-2B65-CF20-A06B90F23B82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BF705E-58FB-410C-925D-2A996552B5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8753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ED8C2003-0FD0-79CB-0A06-59574A7B2FA5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3C8E9-987E-4AE3-9E5F-595346DEE3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163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;p9">
            <a:extLst>
              <a:ext uri="{FF2B5EF4-FFF2-40B4-BE49-F238E27FC236}">
                <a16:creationId xmlns:a16="http://schemas.microsoft.com/office/drawing/2014/main" id="{38C43363-93B6-8BE1-BAD5-9C9F145C8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" name="Google Shape;40;p9">
            <a:extLst>
              <a:ext uri="{FF2B5EF4-FFF2-40B4-BE49-F238E27FC236}">
                <a16:creationId xmlns:a16="http://schemas.microsoft.com/office/drawing/2014/main" id="{7E6A6310-BA34-6479-3D8D-F27FD994F723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75061-0BED-4F9A-BF43-C74C043B70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3922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1C26D03D-620A-4D95-5C5B-E69BF1F1C108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EC72F9-CF6F-4BE4-A655-E7BF09312D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833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8C31B8B1-1CD1-8392-E993-9B9BC568924F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74C1D-522F-439E-A4F8-224CAAC996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222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;p1">
            <a:extLst>
              <a:ext uri="{FF2B5EF4-FFF2-40B4-BE49-F238E27FC236}">
                <a16:creationId xmlns:a16="http://schemas.microsoft.com/office/drawing/2014/main" id="{2E17AC62-1F55-DB84-BDD9-B8CDA25D4282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D81A69-9B2B-4A5D-A059-AF491E785E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0100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>
            <a:extLst>
              <a:ext uri="{FF2B5EF4-FFF2-40B4-BE49-F238E27FC236}">
                <a16:creationId xmlns:a16="http://schemas.microsoft.com/office/drawing/2014/main" id="{54CB8C59-6859-BF0E-458C-D55C6CFA52D2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311150" y="444500"/>
            <a:ext cx="85217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Google Shape;7;p1">
            <a:extLst>
              <a:ext uri="{FF2B5EF4-FFF2-40B4-BE49-F238E27FC236}">
                <a16:creationId xmlns:a16="http://schemas.microsoft.com/office/drawing/2014/main" id="{EEEEE3F7-078C-9690-E564-E6B73AFD6872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Google Shape;8;p1">
            <a:extLst>
              <a:ext uri="{FF2B5EF4-FFF2-40B4-BE49-F238E27FC236}">
                <a16:creationId xmlns:a16="http://schemas.microsoft.com/office/drawing/2014/main" id="{693B9620-9367-F148-8288-D5D7463E14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8472488" y="4662488"/>
            <a:ext cx="54927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000">
                <a:solidFill>
                  <a:srgbClr val="595959"/>
                </a:solidFill>
              </a:defRPr>
            </a:lvl1pPr>
          </a:lstStyle>
          <a:p>
            <a:pPr>
              <a:defRPr/>
            </a:pPr>
            <a:fld id="{D99C7298-F65F-4D88-B44E-58FFA2194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58" r:id="rId1"/>
    <p:sldLayoutId id="2147483761" r:id="rId2"/>
    <p:sldLayoutId id="2147483765" r:id="rId3"/>
    <p:sldLayoutId id="2147483762" r:id="rId4"/>
    <p:sldLayoutId id="2147483763" r:id="rId5"/>
    <p:sldLayoutId id="214748376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marL="742950" lvl="1" indent="-28575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marL="1143000" lvl="2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marL="1600200" lvl="3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marL="2057400" lvl="4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»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Google Shape;54;p13">
            <a:extLst>
              <a:ext uri="{FF2B5EF4-FFF2-40B4-BE49-F238E27FC236}">
                <a16:creationId xmlns:a16="http://schemas.microsoft.com/office/drawing/2014/main" id="{82C31A2F-19F3-B995-B686-F4D4EA55655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075" y="46038"/>
            <a:ext cx="942975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Google Shape;56;p13">
            <a:extLst>
              <a:ext uri="{FF2B5EF4-FFF2-40B4-BE49-F238E27FC236}">
                <a16:creationId xmlns:a16="http://schemas.microsoft.com/office/drawing/2014/main" id="{BFE25960-E12F-F16A-2111-4060EC2E4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0421"/>
            <a:ext cx="9144000" cy="1298575"/>
          </a:xfrm>
          <a:prstGeom prst="rect">
            <a:avLst/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None/>
            </a:pPr>
            <a:endParaRPr lang="en-US" altLang="en-US" sz="22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 eaLnBrk="1" hangingPunct="1">
              <a:buNone/>
            </a:pPr>
            <a:r>
              <a:rPr lang="en-US" altLang="en-US" sz="2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ECOFEED: INTELLIGENT FOOD DONATION AND WASTE RECYCLING SYSTEM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sz="22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72C88D42-404A-3118-62F5-F804D49A3D56}"/>
              </a:ext>
            </a:extLst>
          </p:cNvPr>
          <p:cNvSpPr txBox="1"/>
          <p:nvPr/>
        </p:nvSpPr>
        <p:spPr>
          <a:xfrm>
            <a:off x="72990" y="3017043"/>
            <a:ext cx="3914619" cy="188277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500" b="1" i="1" kern="0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lang="en-US" sz="1500" b="1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pt-BR" sz="15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NANTHINI S (2303811710422101)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pt-BR" sz="15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NAVEENA R(2303811710422104)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pt-BR" sz="15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PADMA HASSANI N P (2303811710422111)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pt-BR" sz="15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PRADEEPA B (2303811710422116)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lang="en-US" sz="1500" b="1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500" b="1" i="1" kern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E3854518-8074-A71A-02BB-A75B7FD39E69}"/>
              </a:ext>
            </a:extLst>
          </p:cNvPr>
          <p:cNvSpPr txBox="1"/>
          <p:nvPr/>
        </p:nvSpPr>
        <p:spPr>
          <a:xfrm>
            <a:off x="5229382" y="3129237"/>
            <a:ext cx="3914619" cy="188277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500" b="1" i="1" kern="0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 lang="en-IN" sz="1500" b="1" i="1" kern="0" dirty="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GB" sz="15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Mrs Valli Priyadharshini K M.E (Ph D)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GB" sz="15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ASSISTANT PROFESSOR,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GB" sz="15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DEPT OF CSE,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GB" sz="15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KRCT.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500" b="1" i="1" kern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02" name="Picture 2">
            <a:extLst>
              <a:ext uri="{FF2B5EF4-FFF2-40B4-BE49-F238E27FC236}">
                <a16:creationId xmlns:a16="http://schemas.microsoft.com/office/drawing/2014/main" id="{1DD3CCF1-067A-D096-B94B-77A1435B4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" y="174625"/>
            <a:ext cx="45720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Google Shape;64;p14">
            <a:extLst>
              <a:ext uri="{FF2B5EF4-FFF2-40B4-BE49-F238E27FC236}">
                <a16:creationId xmlns:a16="http://schemas.microsoft.com/office/drawing/2014/main" id="{4375B4A7-7834-269D-E01A-C599829D07A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025" y="20638"/>
            <a:ext cx="801688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Google Shape;65;p14">
            <a:extLst>
              <a:ext uri="{FF2B5EF4-FFF2-40B4-BE49-F238E27FC236}">
                <a16:creationId xmlns:a16="http://schemas.microsoft.com/office/drawing/2014/main" id="{27CE846F-7F86-46B7-8D01-A4BAF099D53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0"/>
            <a:ext cx="876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Google Shape;66;p14">
            <a:extLst>
              <a:ext uri="{FF2B5EF4-FFF2-40B4-BE49-F238E27FC236}">
                <a16:creationId xmlns:a16="http://schemas.microsoft.com/office/drawing/2014/main" id="{6EB9F0F2-4748-2886-9D81-C9E746119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206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8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CONTENTS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C974FB76-801F-FA5E-4E37-D9DE529EB253}"/>
              </a:ext>
            </a:extLst>
          </p:cNvPr>
          <p:cNvSpPr txBox="1"/>
          <p:nvPr/>
        </p:nvSpPr>
        <p:spPr>
          <a:xfrm>
            <a:off x="1146175" y="644434"/>
            <a:ext cx="7281863" cy="4499066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171450" indent="-1714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US" sz="12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PROBLEM IDENTIFICATION</a:t>
            </a: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US" sz="12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US" sz="1200" b="1" kern="0" dirty="0">
                <a:latin typeface="Times New Roman"/>
                <a:cs typeface="Times New Roman"/>
              </a:rPr>
              <a:t>OBJECTIVES AND SCOPE OF THE PROJECT</a:t>
            </a: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US" altLang="en-US" sz="1200" b="1" dirty="0">
                <a:latin typeface="Times New Roman" panose="02020603050405020304" pitchFamily="18" charset="0"/>
              </a:rPr>
              <a:t>LITERATURE SURVEY</a:t>
            </a: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US" altLang="en-US" sz="1200" b="1" dirty="0">
                <a:latin typeface="Times New Roman" panose="02020603050405020304" pitchFamily="18" charset="0"/>
              </a:rPr>
              <a:t>EXISTING SYSTEM</a:t>
            </a: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US" altLang="en-US" sz="1200" b="1" dirty="0">
                <a:latin typeface="Times New Roman" panose="02020603050405020304" pitchFamily="18" charset="0"/>
              </a:rPr>
              <a:t>PROPOSED SYSTEM </a:t>
            </a:r>
          </a:p>
          <a:p>
            <a:pPr lvl="1" algn="just" eaLnBrk="1" hangingPunct="1">
              <a:lnSpc>
                <a:spcPct val="12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1200" b="1" dirty="0">
                <a:latin typeface="Times New Roman" panose="02020603050405020304" pitchFamily="18" charset="0"/>
              </a:rPr>
              <a:t>ARCHITECTURE DIAGRAM OF PROPOSED SYSTEM</a:t>
            </a:r>
          </a:p>
          <a:p>
            <a:pPr lvl="1" algn="just" eaLnBrk="1" hangingPunct="1">
              <a:lnSpc>
                <a:spcPct val="12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IN" altLang="en-US" sz="1200" b="1" dirty="0">
                <a:latin typeface="Times New Roman" panose="02020603050405020304" pitchFamily="18" charset="0"/>
              </a:rPr>
              <a:t>MODULE DESCRIPTION.</a:t>
            </a:r>
            <a:endParaRPr lang="en-US" altLang="en-US" sz="1200" b="1" dirty="0">
              <a:latin typeface="Times New Roman" panose="02020603050405020304" pitchFamily="18" charset="0"/>
            </a:endParaRP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US" sz="12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HARDWARE AND SOFTWARE REQUIREMENTS </a:t>
            </a:r>
            <a:endParaRPr lang="en-US" sz="1200" b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PROTOTYPE SCREENS</a:t>
            </a: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IN" sz="1200" b="1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IMPLEMENTATION DETAILS/CODE SNIPPETS</a:t>
            </a: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IN" sz="1200" b="1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TEST CASES/EXPERIMENTAL ANALYSIS</a:t>
            </a: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IN" sz="1200" b="1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OUTPUT SCREENSHOT</a:t>
            </a: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IN" sz="1200" b="1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</a:t>
            </a: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IN" sz="1200" b="1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IN" sz="1200" b="1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PRODUCTION PUBLICATION PROOF</a:t>
            </a: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endParaRPr lang="en-US" sz="1500" b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endParaRPr lang="en-IN" sz="1600" b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endParaRPr lang="en-US" sz="1500" b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sz="1500" b="1" i="1" kern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Google Shape;64;p14">
            <a:extLst>
              <a:ext uri="{FF2B5EF4-FFF2-40B4-BE49-F238E27FC236}">
                <a16:creationId xmlns:a16="http://schemas.microsoft.com/office/drawing/2014/main" id="{1A994694-DB68-D918-E908-4273013529E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0" y="0"/>
            <a:ext cx="801688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Google Shape;65;p14">
            <a:extLst>
              <a:ext uri="{FF2B5EF4-FFF2-40B4-BE49-F238E27FC236}">
                <a16:creationId xmlns:a16="http://schemas.microsoft.com/office/drawing/2014/main" id="{10222823-4A62-D282-12FA-69BBA9B8DBA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-206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Google Shape;66;p14">
            <a:extLst>
              <a:ext uri="{FF2B5EF4-FFF2-40B4-BE49-F238E27FC236}">
                <a16:creationId xmlns:a16="http://schemas.microsoft.com/office/drawing/2014/main" id="{C80F12B2-FFC2-3750-00C4-F15DEAA88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200" y="74613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PROBLEM IDENTIFICATION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70216EBE-45DE-2DAE-E61B-BBCEE3E743CB}"/>
              </a:ext>
            </a:extLst>
          </p:cNvPr>
          <p:cNvSpPr txBox="1"/>
          <p:nvPr/>
        </p:nvSpPr>
        <p:spPr>
          <a:xfrm>
            <a:off x="768350" y="795338"/>
            <a:ext cx="7281863" cy="387669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2000" dirty="0">
                <a:solidFill>
                  <a:srgbClr val="13141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13141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Every day, restaurants, hotels, hostels, and event organizers generate a large amount of surplus food that is often discarded despite being safe for consumption.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dirty="0">
                <a:solidFill>
                  <a:srgbClr val="13141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At the same time, many NGOs and shelters face difficulties in providing sufficient meals to underprivileged communities.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dirty="0">
                <a:solidFill>
                  <a:srgbClr val="13141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There is no efficient platform that instantly connects food donors with nearby NGOs for timely food collection.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dirty="0">
                <a:solidFill>
                  <a:srgbClr val="13141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As a result, edible food expires before it can reach the people who need it.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dirty="0">
                <a:solidFill>
                  <a:srgbClr val="13141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Vegetable waste and spoiled food are commonly dumped in landfills, causing methane emissions and environmental pollution.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dirty="0">
                <a:solidFill>
                  <a:srgbClr val="13141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These organic wastes can instead be converted into renewable energy through biogas production.</a:t>
            </a:r>
            <a:endParaRPr lang="en-US" sz="1600" b="1" i="1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sz="2000" b="1" i="1" kern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Google Shape;64;p14">
            <a:extLst>
              <a:ext uri="{FF2B5EF4-FFF2-40B4-BE49-F238E27FC236}">
                <a16:creationId xmlns:a16="http://schemas.microsoft.com/office/drawing/2014/main" id="{1F6BEBF6-55AF-290A-8E7C-5B0FC3BF192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Google Shape;65;p14">
            <a:extLst>
              <a:ext uri="{FF2B5EF4-FFF2-40B4-BE49-F238E27FC236}">
                <a16:creationId xmlns:a16="http://schemas.microsoft.com/office/drawing/2014/main" id="{C6F4AD22-5B2C-D576-40CF-E2E4474E7A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Google Shape;66;p14">
            <a:extLst>
              <a:ext uri="{FF2B5EF4-FFF2-40B4-BE49-F238E27FC236}">
                <a16:creationId xmlns:a16="http://schemas.microsoft.com/office/drawing/2014/main" id="{38914F27-323B-FF7E-4551-2D430D028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F7489DFE-F9EE-5C55-BD34-0938115068AA}"/>
              </a:ext>
            </a:extLst>
          </p:cNvPr>
          <p:cNvSpPr txBox="1"/>
          <p:nvPr/>
        </p:nvSpPr>
        <p:spPr>
          <a:xfrm>
            <a:off x="984250" y="830263"/>
            <a:ext cx="7281863" cy="3635376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kern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EcoFeed</a:t>
            </a:r>
            <a:r>
              <a:rPr lang="en-US" sz="1600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is an intelligent mobile application designed to reduce food waste while supporting hunger relief and sustainable waste management.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platform connects food donors such as restaurants, hotels, hostels, and event organizers with nearby NGOs using GPS-based location matching using GPS location matching logic.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Donors upload surplus food details, including quantity, location, and expiry time.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Food that is no longer suitable for consumption is automatically redirected to registered biogas or composting partners using Smart Expiry based algorithm.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This dual-purpose approach creates a circular ecosystem where edible food feeds people and organic waste generates renewable energy.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Google Shape;64;p14">
            <a:extLst>
              <a:ext uri="{FF2B5EF4-FFF2-40B4-BE49-F238E27FC236}">
                <a16:creationId xmlns:a16="http://schemas.microsoft.com/office/drawing/2014/main" id="{F314362E-5BAB-3C20-8808-42BB7CD5F97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Google Shape;65;p14">
            <a:extLst>
              <a:ext uri="{FF2B5EF4-FFF2-40B4-BE49-F238E27FC236}">
                <a16:creationId xmlns:a16="http://schemas.microsoft.com/office/drawing/2014/main" id="{00401ED0-61B3-85C6-C764-AAE465CBDEB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Google Shape;66;p14">
            <a:extLst>
              <a:ext uri="{FF2B5EF4-FFF2-40B4-BE49-F238E27FC236}">
                <a16:creationId xmlns:a16="http://schemas.microsoft.com/office/drawing/2014/main" id="{310DA320-DFEF-7214-150F-F80492D30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ACBC29BF-CDDD-B281-974E-F972498607AA}"/>
              </a:ext>
            </a:extLst>
          </p:cNvPr>
          <p:cNvSpPr txBox="1"/>
          <p:nvPr/>
        </p:nvSpPr>
        <p:spPr>
          <a:xfrm>
            <a:off x="984250" y="618768"/>
            <a:ext cx="7281863" cy="384687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endParaRPr lang="en-US" sz="2000" b="1" dirty="0"/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that connects food donors with NGOs through location-based matching.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food wastage through efficient food donation and collection.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food donations based on expiry dates to minimize spoilage.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transparency through donation tracking and status updates.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Redirect expired food and suitable organic waste to biogas plants for renewable energy production.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environmental sustainability by reducing landfill waste and encouraging resource recycling.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24135-A421-DA51-73D8-612F44E4F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Google Shape;64;p14">
            <a:extLst>
              <a:ext uri="{FF2B5EF4-FFF2-40B4-BE49-F238E27FC236}">
                <a16:creationId xmlns:a16="http://schemas.microsoft.com/office/drawing/2014/main" id="{21311DD9-112E-6808-2E13-A5CCE546980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Google Shape;65;p14">
            <a:extLst>
              <a:ext uri="{FF2B5EF4-FFF2-40B4-BE49-F238E27FC236}">
                <a16:creationId xmlns:a16="http://schemas.microsoft.com/office/drawing/2014/main" id="{BF93DC63-8857-357B-0AEB-3B73937A185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Google Shape;66;p14">
            <a:extLst>
              <a:ext uri="{FF2B5EF4-FFF2-40B4-BE49-F238E27FC236}">
                <a16:creationId xmlns:a16="http://schemas.microsoft.com/office/drawing/2014/main" id="{9D50008B-5677-C39B-BE2E-E9FD45C91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FF90DAAA-BCA6-4C2D-0F1F-826F3AB7A41C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application serves restaurants, hotels, hostels, supermarkets, caterers, NGOs, shelters, and biogas producers.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It supports efficient food redistribution within local communities using location-based matching.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platform can be expanded to cities, districts, and state-level food distribution networks.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Future versions can integrate AI-based prediction and IoT-enabled smart waste monitoring.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3204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Google Shape;64;p14">
            <a:extLst>
              <a:ext uri="{FF2B5EF4-FFF2-40B4-BE49-F238E27FC236}">
                <a16:creationId xmlns:a16="http://schemas.microsoft.com/office/drawing/2014/main" id="{75A714DB-C7F6-89CF-5D07-D49AAB099D5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Google Shape;65;p14">
            <a:extLst>
              <a:ext uri="{FF2B5EF4-FFF2-40B4-BE49-F238E27FC236}">
                <a16:creationId xmlns:a16="http://schemas.microsoft.com/office/drawing/2014/main" id="{C49C0FB1-BA28-1B41-BE86-3C3EBD82AA5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Google Shape;66;p14">
            <a:extLst>
              <a:ext uri="{FF2B5EF4-FFF2-40B4-BE49-F238E27FC236}">
                <a16:creationId xmlns:a16="http://schemas.microsoft.com/office/drawing/2014/main" id="{E9CB92B3-DFFC-8AAA-449E-9321C2D06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EXISTING SYSTEM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1475F465-3EE0-E0F8-9099-5FF912CF57B6}"/>
              </a:ext>
            </a:extLst>
          </p:cNvPr>
          <p:cNvSpPr txBox="1"/>
          <p:nvPr/>
        </p:nvSpPr>
        <p:spPr>
          <a:xfrm>
            <a:off x="984250" y="830263"/>
            <a:ext cx="7281863" cy="363537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donation is mainly managed through phone calls and social media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manual process is time-consuming and lacks proper coordination.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platform to connect food donors with nearby NGOs.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often results in delayed pickups and increased food wastage.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do not prioritize food based on its expiry time.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edible food may spoil before it reaches beneficiaries.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GPS-based matching is not effectively used to identify the nearest recipient.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increases travel distance, transportation cost, and delivery time.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Organic food waste is usually disposed of in landfills instead of being recycled.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systems connect food waste with biogas or composting facilities.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Google Shape;64;p14">
            <a:extLst>
              <a:ext uri="{FF2B5EF4-FFF2-40B4-BE49-F238E27FC236}">
                <a16:creationId xmlns:a16="http://schemas.microsoft.com/office/drawing/2014/main" id="{C6F3B455-5334-7DE3-FA14-17660F3FFF3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Google Shape;65;p14">
            <a:extLst>
              <a:ext uri="{FF2B5EF4-FFF2-40B4-BE49-F238E27FC236}">
                <a16:creationId xmlns:a16="http://schemas.microsoft.com/office/drawing/2014/main" id="{AE7357E8-36EE-A3B8-BFD3-047DF1E0560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Google Shape;66;p14">
            <a:extLst>
              <a:ext uri="{FF2B5EF4-FFF2-40B4-BE49-F238E27FC236}">
                <a16:creationId xmlns:a16="http://schemas.microsoft.com/office/drawing/2014/main" id="{B1446825-413F-62DB-BD56-FA89896D6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LIMITATIONS OF EXISTING SYSTEM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16828B1E-43C7-E69A-6993-1BEF51E270F4}"/>
              </a:ext>
            </a:extLst>
          </p:cNvPr>
          <p:cNvSpPr txBox="1"/>
          <p:nvPr/>
        </p:nvSpPr>
        <p:spPr>
          <a:xfrm>
            <a:off x="984250" y="952107"/>
            <a:ext cx="7281863" cy="3513531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communication between donors and NGOs often causes surplus food to spoil before it reaches the intended beneficiaries.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do not prioritize food based on its expiry time, resulting in inefficient distribution and increased food wastage.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GPS-based nearest-location matching increases travel distance, transportation costs, and food collection time.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Donation records are maintained manually, making it difficult to track food collection, delivery status, and overall transparency. 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sz="16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Google Shape;64;p14">
            <a:extLst>
              <a:ext uri="{FF2B5EF4-FFF2-40B4-BE49-F238E27FC236}">
                <a16:creationId xmlns:a16="http://schemas.microsoft.com/office/drawing/2014/main" id="{532252C1-B746-8847-841C-9DC7D322D5B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Google Shape;65;p14">
            <a:extLst>
              <a:ext uri="{FF2B5EF4-FFF2-40B4-BE49-F238E27FC236}">
                <a16:creationId xmlns:a16="http://schemas.microsoft.com/office/drawing/2014/main" id="{EC52FAA8-38E8-0A8E-F9E9-7B5527CC45C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Google Shape;66;p14">
            <a:extLst>
              <a:ext uri="{FF2B5EF4-FFF2-40B4-BE49-F238E27FC236}">
                <a16:creationId xmlns:a16="http://schemas.microsoft.com/office/drawing/2014/main" id="{0362CCF5-F3E7-5F99-C56A-25BADDF6B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PROPOSED SYSTEM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746D8FB7-04D9-4497-295E-7A0493D265FA}"/>
              </a:ext>
            </a:extLst>
          </p:cNvPr>
          <p:cNvSpPr txBox="1"/>
          <p:nvPr/>
        </p:nvSpPr>
        <p:spPr>
          <a:xfrm>
            <a:off x="984250" y="1029601"/>
            <a:ext cx="7281863" cy="3436038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kern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EcoFeed</a:t>
            </a:r>
            <a:r>
              <a:rPr lang="en-US" sz="1600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provides a unified platform that connects food donors, NGOs, and biogas partners in real time.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Donors can upload surplus food details, including quantity, expiry time, and GPS location.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application categorizes food into edible and non-edible types.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Edible food is assigned to nearby NGOs, while organic waste is redirected to biogas plants.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NGOs receive instant notifications and can request food immediately.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600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Biogas partners can schedule pickup for vegetable waste and spoiled food.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sz="16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Google Shape;64;p14">
            <a:extLst>
              <a:ext uri="{FF2B5EF4-FFF2-40B4-BE49-F238E27FC236}">
                <a16:creationId xmlns:a16="http://schemas.microsoft.com/office/drawing/2014/main" id="{5EA60D58-0400-F2D5-980B-57849E77069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Google Shape;65;p14">
            <a:extLst>
              <a:ext uri="{FF2B5EF4-FFF2-40B4-BE49-F238E27FC236}">
                <a16:creationId xmlns:a16="http://schemas.microsoft.com/office/drawing/2014/main" id="{D0B82E0A-2273-0EC9-68DF-411CF6F4CAE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Google Shape;66;p14">
            <a:extLst>
              <a:ext uri="{FF2B5EF4-FFF2-40B4-BE49-F238E27FC236}">
                <a16:creationId xmlns:a16="http://schemas.microsoft.com/office/drawing/2014/main" id="{F8E6B497-E240-8A91-A202-64322C67C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ARCHITECTURE DIAGRAM OF PROPOSED SYSTEM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7365CD65-F661-1B73-94CA-383DEF26556B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7F8277-0411-A294-E649-665814BF46D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5"/>
          <a:stretch>
            <a:fillRect/>
          </a:stretch>
        </p:blipFill>
        <p:spPr bwMode="auto">
          <a:xfrm>
            <a:off x="1245326" y="830263"/>
            <a:ext cx="6627223" cy="431323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Google Shape;64;p14">
            <a:extLst>
              <a:ext uri="{FF2B5EF4-FFF2-40B4-BE49-F238E27FC236}">
                <a16:creationId xmlns:a16="http://schemas.microsoft.com/office/drawing/2014/main" id="{BA4C5DFB-2B55-4C7A-1936-CBBBE585597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Google Shape;65;p14">
            <a:extLst>
              <a:ext uri="{FF2B5EF4-FFF2-40B4-BE49-F238E27FC236}">
                <a16:creationId xmlns:a16="http://schemas.microsoft.com/office/drawing/2014/main" id="{93C570F7-B9C8-6199-2853-A7C041FBACB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Google Shape;66;p14">
            <a:extLst>
              <a:ext uri="{FF2B5EF4-FFF2-40B4-BE49-F238E27FC236}">
                <a16:creationId xmlns:a16="http://schemas.microsoft.com/office/drawing/2014/main" id="{5DDB32E6-794E-B666-BAB8-7D7A48C76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ADVANTAGES OF PROPOSED SYSTEM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3C631AFC-25F5-1FF2-D898-8E5B10F726C4}"/>
              </a:ext>
            </a:extLst>
          </p:cNvPr>
          <p:cNvSpPr txBox="1"/>
          <p:nvPr/>
        </p:nvSpPr>
        <p:spPr>
          <a:xfrm>
            <a:off x="1146175" y="830263"/>
            <a:ext cx="7281863" cy="367857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food wastage by connecting donors with NGOs in real time.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quick food distribution through location-based matching.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Prioritizes food according to expiry time, reducing spoilage.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transparency through donation tracking.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organic waste into renewable biogas and organic fertilizer.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sustainable development and a circular economy.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NGOs access available food donations easily.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responsible food donation and waste management.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amount of organic waste sent to landfills.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efficient resource utilization and environmental protection.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Char char="•"/>
              <a:defRPr/>
            </a:pPr>
            <a:endParaRPr lang="en-US" sz="1600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75CA7-C5D7-1E20-20C4-1D02F88C9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Google Shape;64;p14">
            <a:extLst>
              <a:ext uri="{FF2B5EF4-FFF2-40B4-BE49-F238E27FC236}">
                <a16:creationId xmlns:a16="http://schemas.microsoft.com/office/drawing/2014/main" id="{D5D27D29-EB85-3FCB-1A07-2C9D1BFA1E4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Google Shape;65;p14">
            <a:extLst>
              <a:ext uri="{FF2B5EF4-FFF2-40B4-BE49-F238E27FC236}">
                <a16:creationId xmlns:a16="http://schemas.microsoft.com/office/drawing/2014/main" id="{4A4F9063-F002-FA5A-62CF-DDA6CF28025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Google Shape;66;p14">
            <a:extLst>
              <a:ext uri="{FF2B5EF4-FFF2-40B4-BE49-F238E27FC236}">
                <a16:creationId xmlns:a16="http://schemas.microsoft.com/office/drawing/2014/main" id="{855BEB2D-13A7-2739-A236-93531FE7E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C84448E6-F4AE-3C5E-AA44-CD14A5C4C64C}"/>
              </a:ext>
            </a:extLst>
          </p:cNvPr>
          <p:cNvSpPr txBox="1"/>
          <p:nvPr/>
        </p:nvSpPr>
        <p:spPr>
          <a:xfrm>
            <a:off x="984250" y="989816"/>
            <a:ext cx="7281863" cy="348525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lvl="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Authentication &amp; Role Management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Secures registration and login for three distinct user roles: Food Donor, NGO, and Biogas Plant.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Directs each authenticated user strictly to their role-specific dashboard and navigation paths.</a:t>
            </a:r>
          </a:p>
          <a:p>
            <a:pPr lvl="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Food Donor Module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donors to list surplus food with key details like quantity, food type, location, and expiry date.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the live status of listed donations from creation to pickup completion.</a:t>
            </a:r>
          </a:p>
          <a:p>
            <a:pPr lvl="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Smart Expiry &amp; Automated Waste Routing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food expiration dates automatically against the real-time system date.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fresh, unexpired food to the NGO feed and automatically diverts expired food to the Biogas feed.</a:t>
            </a:r>
          </a:p>
          <a:p>
            <a:pPr lvl="0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83549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B00D0-AF55-BA1C-D7CD-E71738028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Google Shape;64;p14">
            <a:extLst>
              <a:ext uri="{FF2B5EF4-FFF2-40B4-BE49-F238E27FC236}">
                <a16:creationId xmlns:a16="http://schemas.microsoft.com/office/drawing/2014/main" id="{6AB602B7-9C47-7276-AEC3-B673B21E17C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Google Shape;65;p14">
            <a:extLst>
              <a:ext uri="{FF2B5EF4-FFF2-40B4-BE49-F238E27FC236}">
                <a16:creationId xmlns:a16="http://schemas.microsoft.com/office/drawing/2014/main" id="{121C0029-7358-2594-690A-167174AB938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Google Shape;66;p14">
            <a:extLst>
              <a:ext uri="{FF2B5EF4-FFF2-40B4-BE49-F238E27FC236}">
                <a16:creationId xmlns:a16="http://schemas.microsoft.com/office/drawing/2014/main" id="{6517E802-F71F-ADB3-1535-BD3AEC959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E97BD03C-BBFD-46FE-A7DA-9DE780EFC496}"/>
              </a:ext>
            </a:extLst>
          </p:cNvPr>
          <p:cNvSpPr txBox="1"/>
          <p:nvPr/>
        </p:nvSpPr>
        <p:spPr>
          <a:xfrm>
            <a:off x="996442" y="955651"/>
            <a:ext cx="7281863" cy="3509988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lvl="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Beneficiary Operations (NGO &amp; Biogas)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NGOs and Biogas plants to view available listings and claim batches for collection.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one-tap phone calling feature to coordinate instant pickup logistics with donors.</a:t>
            </a:r>
          </a:p>
          <a:p>
            <a:pPr lvl="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Ratings &amp; Feedback 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beneficiaries to rate completed pickups using an interactive 5-star review system.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and updates the donor's overall trust rating and public profile score.</a:t>
            </a:r>
          </a:p>
          <a:p>
            <a:pPr lvl="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Real-Time Notification Engine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targeted status alerts whenever a donation is claimed, collected, or reviewed.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local tracking mechanism to prevent duplicate pop-up banners on the device.</a:t>
            </a:r>
          </a:p>
          <a:p>
            <a:pPr lvl="0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954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E7A85-13F9-6E98-E10D-13110E6D8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Google Shape;64;p14">
            <a:extLst>
              <a:ext uri="{FF2B5EF4-FFF2-40B4-BE49-F238E27FC236}">
                <a16:creationId xmlns:a16="http://schemas.microsoft.com/office/drawing/2014/main" id="{A2356E54-DEB7-9E5D-637F-3AF2C36D2A4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Google Shape;65;p14">
            <a:extLst>
              <a:ext uri="{FF2B5EF4-FFF2-40B4-BE49-F238E27FC236}">
                <a16:creationId xmlns:a16="http://schemas.microsoft.com/office/drawing/2014/main" id="{CA70BEB3-86EF-1145-840C-AF4BEC6C9D6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Google Shape;66;p14">
            <a:extLst>
              <a:ext uri="{FF2B5EF4-FFF2-40B4-BE49-F238E27FC236}">
                <a16:creationId xmlns:a16="http://schemas.microsoft.com/office/drawing/2014/main" id="{FC95303F-27FF-CBCC-2F85-2B25BEE4D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FD8C3CF4-C87F-CCED-F686-ABC35132B5C6}"/>
              </a:ext>
            </a:extLst>
          </p:cNvPr>
          <p:cNvSpPr txBox="1"/>
          <p:nvPr/>
        </p:nvSpPr>
        <p:spPr>
          <a:xfrm>
            <a:off x="996442" y="980389"/>
            <a:ext cx="7281863" cy="348525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lvl="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User Profile Management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update contact details, organization names, and text-based addresses.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Compresses profile photos directly on the device for fast upload and reliable cloud storage.</a:t>
            </a:r>
          </a:p>
          <a:p>
            <a:pPr lvl="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UI/UX &amp; Adaptive Theming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high-contrast Material 3 light and dark themes for clear readability across all screens.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smooth page transitions and a custom adaptive launcher icon tailored for Android devices.</a:t>
            </a:r>
          </a:p>
          <a:p>
            <a:pPr lvl="0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789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3C80E2C9-38B6-8CBA-4F46-784738EF4A9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F9385A0B-74A7-09DE-C769-321EC172F48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86C55027-A480-5A85-BE14-DFDBC6FDD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None/>
            </a:pPr>
            <a:endParaRPr lang="en-US" altLang="en-US" sz="28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 eaLnBrk="1" hangingPunct="1"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HARDWARE AND SOFTWARE 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sz="28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018C8677-3655-1593-41F9-ADDBDB7F5F93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4" name="Picture 3" descr="The image displays a list of various software and hardware requirements, including processors, Android Studio, RAM, Android SDK, computer, Jetpack Compose, Android smartphones, Gradle, display monitors, coroutines, Supabase, Wi-Fi routers, and cameras.&#10;&#10;AI-generated content may be incorrect.">
            <a:extLst>
              <a:ext uri="{FF2B5EF4-FFF2-40B4-BE49-F238E27FC236}">
                <a16:creationId xmlns:a16="http://schemas.microsoft.com/office/drawing/2014/main" id="{22699541-62FC-89F4-C6AE-DA6DB2E10B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176" y="921276"/>
            <a:ext cx="7013574" cy="36094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DD22D-5969-A6B3-82F3-D2B366B48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81B964A3-3B95-C4F2-83AA-9F8FB12CD22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3BDB79BE-5225-9037-213B-038A079A4CD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6515CD76-79DE-F359-CA88-ABC046A60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523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None/>
            </a:pP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None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PROTOTYPE</a:t>
            </a:r>
            <a:endParaRPr lang="en-US" sz="2800" b="1" kern="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sz="28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75D13B73-08B7-67FC-4586-77892DD78218}"/>
              </a:ext>
            </a:extLst>
          </p:cNvPr>
          <p:cNvSpPr txBox="1"/>
          <p:nvPr/>
        </p:nvSpPr>
        <p:spPr>
          <a:xfrm>
            <a:off x="897523" y="1221589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000" dirty="0"/>
              <a:t>, </a:t>
            </a:r>
            <a:endParaRPr lang="en-US"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7E5691-F86D-1815-9A32-7B899935F3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413" y="848382"/>
            <a:ext cx="6866232" cy="418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47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73CB2-41BC-72A0-8014-94EAEE6A3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9F62761C-B8AF-1516-BDF2-208EE76747F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8C335E9B-F610-8AB9-A9A2-B4C42BEFC3F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35B63390-4AD3-9D54-7B82-D4F8B0075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None/>
            </a:pP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None/>
            </a:pPr>
            <a:r>
              <a:rPr lang="en-IN" sz="28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IMPLEMENTATION DETAILS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sz="28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D2E419B7-65AB-4630-8A54-D9C30B89DC67}"/>
              </a:ext>
            </a:extLst>
          </p:cNvPr>
          <p:cNvSpPr txBox="1"/>
          <p:nvPr/>
        </p:nvSpPr>
        <p:spPr>
          <a:xfrm>
            <a:off x="742520" y="904876"/>
            <a:ext cx="7576457" cy="36036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Kotlin and Jetpack Compose are used to develop the Android application and create a user-friendly interface.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backend services for managing application data, user authentication, and communication with the database.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Authentication: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PostgreSQL stores donation details, while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 manages user login.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Storage: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Storage stores food donation images and allows the application to access them.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Separate dashboards are provided for donors, NGOs, and biogas partners.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Routing: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Food expiry status helps route edible food to NGOs and suitable organic waste to biogas partners.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Realtime supports updates to donation and request information.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7307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8FA67-4534-F9A4-8E6C-DB83AB8DA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1958B46E-E2A6-F591-8B44-79C24A94D18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D433A80E-C41E-09C3-A7E4-B3B54C46E61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7A5E963E-7481-95E8-CB1A-DB6CFEB06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IN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TEST CASES/EXPERIMENTAL ANALYSIS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124DB060-BA99-C9B6-3EE5-E7EED568E261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IN" sz="2000" dirty="0"/>
              <a:t> </a:t>
            </a: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B9DF8E-B4DA-6072-95CC-69870C3726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449" y="830262"/>
            <a:ext cx="7509302" cy="40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009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A8816-6CBB-7D0F-A8F6-B07229CA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65C7FF14-CCD9-9FDE-E587-7DBE0FB4F37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884FB245-5CFA-7A1C-FB0E-C9D5FDC647F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AFCB6E34-3FF5-814A-440E-C6111EC43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None/>
            </a:pP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None/>
            </a:pPr>
            <a:r>
              <a:rPr lang="en-IN" sz="28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OUTPUT SCREENSHOT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sz="28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CA7F4A14-44FF-20B7-D496-C10688048D95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0" name="Picture 9" descr="The image displays an EcoFeed account dashboard, offering options to choose roles such as food donor, partner for NGOs, charities, or biogas processing, and leading to a continuation to the main dashboard.&#10;&#10;AI-generated content may be incorrect.">
            <a:extLst>
              <a:ext uri="{FF2B5EF4-FFF2-40B4-BE49-F238E27FC236}">
                <a16:creationId xmlns:a16="http://schemas.microsoft.com/office/drawing/2014/main" id="{2617BC56-A582-0373-0426-C218130A17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729" y="904876"/>
            <a:ext cx="2172300" cy="39151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B0684F2-B723-CCAB-3D76-1BDCF9E76C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5418" y="902452"/>
            <a:ext cx="2309803" cy="38551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C1A925-E633-8086-E722-4D4739259F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250" y="947739"/>
            <a:ext cx="2302090" cy="391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122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2DD0B-E76D-BF41-912F-C4F02D977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093173E3-8D68-0993-C358-3E0CAAE3775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5094D03A-DFF7-4FF2-7653-171D763D757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229CA5E0-E4B7-8C0A-DECC-71A997F74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4" y="141567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endParaRPr lang="en-IN" sz="2400" b="1" kern="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IN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OUTPUT SCREENSHOT</a:t>
            </a: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endParaRPr lang="en-IN" sz="2400" b="1" kern="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D475EB7B-ABFD-E4D5-79FE-CDF0679BF376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lang="en-US"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A4CADA-B37B-E7B1-2B9F-65A5AF62D9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947" y="947738"/>
            <a:ext cx="2167292" cy="40862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C1C04F-8C00-A06C-BAD7-8EABA3304E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862292"/>
            <a:ext cx="2167292" cy="403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10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56836-4FB2-300A-59C6-D9EE29727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25E4459A-AA60-869A-08E6-4E0C1A792D4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6E2C117F-68FE-B85D-33FD-4F8DC3AAB25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676B4CF1-4D77-5F8B-6C2B-CF77C7824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endParaRPr lang="en-IN" sz="2400" b="1" kern="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IN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</a:t>
            </a:r>
          </a:p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IN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OUTPUT SCREENSHOT</a:t>
            </a: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endParaRPr lang="en-IN" sz="2400" b="1" kern="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IN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OU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BA8148E4-C7F9-BBBB-F63C-3BFE5C724F8A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lang="en-US"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FDCB05-0CF4-655F-CADF-304EB6D75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250" y="939801"/>
            <a:ext cx="2272561" cy="4094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176DC4-6F4C-7996-2CB8-F8C86DC7C1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7869" y="939801"/>
            <a:ext cx="2205921" cy="40941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E9884E-9F11-5D8F-B4AE-AE2C75DCCF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3790" y="939800"/>
            <a:ext cx="2077961" cy="409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198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E991C-3A94-EE3B-7DA7-F8216490F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309D2359-6B8D-0202-3605-C69230566D9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79D3D1C9-AA6F-2856-FC39-5BD4729B52D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9664016A-A734-7824-8DC2-BF7FB44E1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IN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   CONCLUSION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E4D5C0DE-E72B-F12E-7929-0788A63967CF}"/>
              </a:ext>
            </a:extLst>
          </p:cNvPr>
          <p:cNvSpPr txBox="1"/>
          <p:nvPr/>
        </p:nvSpPr>
        <p:spPr>
          <a:xfrm>
            <a:off x="809479" y="1170158"/>
            <a:ext cx="7655253" cy="346943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EcoFeed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intelligent and sustainable platform that connects food donors with nearby NGOs and shelters to ensure surplus edible food reaches people in need. The system uses GPS-based matching and expiry-date prioritization for faster and efficient food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distribution.Non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-edible food and vegetable waste are redirected to biogas or composting partners, helping convert waste into useful resources. By combining food donation, waste recycling, pickup tracking, and digital monitoring in a single platform,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EcoFeed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food wastage, supports renewable energy generation, and promotes a sustainable circular economy.</a:t>
            </a:r>
          </a:p>
        </p:txBody>
      </p:sp>
    </p:spTree>
    <p:extLst>
      <p:ext uri="{BB962C8B-B14F-4D97-AF65-F5344CB8AC3E}">
        <p14:creationId xmlns:p14="http://schemas.microsoft.com/office/powerpoint/2010/main" val="1099896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1FCA0-64CE-E10B-047C-096A5BCB3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40A4AE9D-7F81-C235-E7FF-881427586D55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396792A3-6EB3-A7EB-7976-27385F2C6EB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6D5577E3-652C-94D4-BDE6-D9A02B74D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345" y="109538"/>
            <a:ext cx="7213310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IN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REFERENCES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7A58DB1F-8745-086A-BCCE-7EC8E1446425}"/>
              </a:ext>
            </a:extLst>
          </p:cNvPr>
          <p:cNvSpPr txBox="1"/>
          <p:nvPr/>
        </p:nvSpPr>
        <p:spPr>
          <a:xfrm>
            <a:off x="922690" y="947739"/>
            <a:ext cx="7121280" cy="358734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Abiad, M. G., &amp; Meho, L. I. (2018). Food loss and food waste research in the Arab world: A systematic review. Food Security, 10, 311–322.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Appels, L.,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Baeyens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Degrève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&amp; Dewil, R. (2008). Principles and potential of the anaerobic digestion of waste-activated sludge. Progress in Energy and Combustion Science, 34(6), 755–781.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Aschemann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-Witzel, J., de Hooge, I., Amani, P., Bech-Larsen, T., 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Oostindjer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(2015). Consumer-related food waste: Causes and potential for action. Sustainability, 7(6), 6457–6477.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Beretta, C., Stoessel, F., Baier, U., &amp; Hellweg, S. (2013). Quantifying food losses and the potential for reduction in Switzerland. Waste Management, 33(3), 764–773.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Gustavsson, J., Cederberg, C., Sonesson, U., van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Otterdijk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Meybeck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(2011). Global food losses and food waste: Extent, causes and prevention. Food and Agriculture Organization of the United Nations.</a:t>
            </a:r>
          </a:p>
        </p:txBody>
      </p:sp>
    </p:spTree>
    <p:extLst>
      <p:ext uri="{BB962C8B-B14F-4D97-AF65-F5344CB8AC3E}">
        <p14:creationId xmlns:p14="http://schemas.microsoft.com/office/powerpoint/2010/main" val="3247408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56F47-FE97-3511-7C08-12B969548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56A462BF-FC5B-2FAE-4936-BD811FE6796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2E548A8F-0C02-9D08-E357-5E7127F197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F00B8724-65EC-FC40-59A7-656B9BC63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IN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PRODUCT PUBLICATION PROOF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FF2A34-17B4-B146-7479-669A2665C4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619793"/>
            <a:ext cx="4464049" cy="30581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8B7C76-27C6-94B1-B5E3-5C631BBF5C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50" y="1619794"/>
            <a:ext cx="4368255" cy="305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953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Google Shape;64;p14">
            <a:extLst>
              <a:ext uri="{FF2B5EF4-FFF2-40B4-BE49-F238E27FC236}">
                <a16:creationId xmlns:a16="http://schemas.microsoft.com/office/drawing/2014/main" id="{52E05458-BED5-21FA-4FB0-D917B301F4B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313" y="0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Google Shape;65;p14">
            <a:extLst>
              <a:ext uri="{FF2B5EF4-FFF2-40B4-BE49-F238E27FC236}">
                <a16:creationId xmlns:a16="http://schemas.microsoft.com/office/drawing/2014/main" id="{73694F64-26EC-A1C0-8CFE-960E720F9D6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76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B5E47FC-886D-7E44-764E-EBA8A14C642C}"/>
              </a:ext>
            </a:extLst>
          </p:cNvPr>
          <p:cNvSpPr/>
          <p:nvPr/>
        </p:nvSpPr>
        <p:spPr>
          <a:xfrm>
            <a:off x="158750" y="1858963"/>
            <a:ext cx="8596313" cy="11080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6600" b="1" kern="0" dirty="0">
                <a:solidFill>
                  <a:srgbClr val="006600"/>
                </a:solidFill>
                <a:latin typeface="Algerian" pitchFamily="82" charset="0"/>
                <a:ea typeface="Times New Roman"/>
                <a:cs typeface="Times New Roman" pitchFamily="18" charset="0"/>
                <a:sym typeface="Times New Roman"/>
              </a:rPr>
              <a:t>Queries ????</a:t>
            </a:r>
          </a:p>
        </p:txBody>
      </p:sp>
      <p:sp>
        <p:nvSpPr>
          <p:cNvPr id="6" name="Google Shape;58;p13">
            <a:extLst>
              <a:ext uri="{FF2B5EF4-FFF2-40B4-BE49-F238E27FC236}">
                <a16:creationId xmlns:a16="http://schemas.microsoft.com/office/drawing/2014/main" id="{32B57D63-6C0A-D9C6-D062-74184B2E8795}"/>
              </a:ext>
            </a:extLst>
          </p:cNvPr>
          <p:cNvSpPr txBox="1"/>
          <p:nvPr/>
        </p:nvSpPr>
        <p:spPr>
          <a:xfrm>
            <a:off x="931863" y="1858963"/>
            <a:ext cx="7280275" cy="133826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500" b="1" i="1" kern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1628</Words>
  <Application>Microsoft Office PowerPoint</Application>
  <PresentationFormat>On-screen Show (16:9)</PresentationFormat>
  <Paragraphs>149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Algerian</vt:lpstr>
      <vt:lpstr>Arial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STUDENT</dc:creator>
  <cp:lastModifiedBy>pradeepabharathi14@gmail.com</cp:lastModifiedBy>
  <cp:revision>37</cp:revision>
  <dcterms:modified xsi:type="dcterms:W3CDTF">2026-10-27T03:52:58Z</dcterms:modified>
</cp:coreProperties>
</file>